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Projector Borrowing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DDD · TDD · Clean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Makerere University — Group Coursework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Member 1 — [Name] · Domain Lead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Member 2 — [Name] · Domain Model Lead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Member 3 — [Name] · Architecture Lead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Member 4 — [Name] · Testing Lead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Member 5 — [Name] · Integration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Problem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Problem — manual projector lending can allow clashes, invalid durations, and unclear accountability.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Inside — request and issue a loan; return is retained as a supporting workflow; in-memory persistence.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Outside — authentication, payments, web UI, production database, deployment, messaging.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Terms — Borrower, Loan, Borrowing Period, Projector, Loan Status, Projector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Six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BR1 · BorrowingPeriod: 1–7 calendar days; otherwise InvalidBorrowingPeriodError.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BR2 · Projector: AVAILABLE → BORROWED only; otherwise InvalidProjectorTransitionError.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BR3 · Borrower: at most two PENDING/ACTIVE loans; otherwise LoanLimitExceededError.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BR4 · Eligibility Service: students cannot borrow PREMIUM; otherwise PremiumProjectorRestrictedError.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BR5 · Borrower raises LoanIssued; handler asks Projector to mark itself BORROWED; rejection propagates.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BR6 · RequestLoan loads both aggregates first; missing item produces Borrower/ProjectorNotFoundError.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Value Object &amp;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BorrowingPeriod enforces BR1 at construction and is immutable.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It has no identity: equality depends only on start and due dates.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Loan is an Entity: its UUID preserves identity while status changes.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Projector is an Entity and Aggregate Root: projector_id defines identity; BR2 protects its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Two Aggregates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Aggregate A — Borrower root contains its Loan entities.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Invariant (BR3) — no more than two open loans; Loan IDs are unique within the borrower.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Aggregate B — Projector root owns type, availability status, and version.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Invariant (BR2) — only a currently available projector may become borrowed.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No aggregate directly mutates the internals of the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Domain Service &amp;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BorrowingEligibilityService owns BR4 because the decision needs Borrower.role and Projector.type.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It also confirms current availability and capacity at the decision point.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The service is stateless and contains domain policy only.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Factory rejected: creation is simple; constructors and aggregate methods already enforce all creation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BorrowerRepository — get_by_id and save; stores Borrower aggregates.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ProjectorRepository — get_by_id and version-aware save; stores Projector aggregates.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InMemoryBorrowerRepository and InMemoryProjectorRepository are infrastructure adapters.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Deep copies simulate persistence boundaries; projector saves reject stale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Clean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INTERFACE  →  APPLICATION  →  DOMAIN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     │                 ↑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     └─ composition ─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Domain — rules, aggregates, value object, service, events, repository protocols.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Application — use cases, event handler, input/output DTOs.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Infrastructure — in-memory repository implementations. Interface — console presenter/entry point.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Layer Supertype rejected: no shared domain behaviour justifies a base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Main Application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IssueLoan coordinates: load → eligibility check → issue → dispatch event → save.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Input DTO — IssueLoanCommand(borrower_id, loan_id).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Output DTO — LoanResult(loan_id, projector_id, status, dates).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Dependency injection — repository implementations enter through the constructor.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Core rules remain in Borrower, Projector, BorrowingPeriod, and the domain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BR5 Domain Event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IssueLoanCommand → IssueLoan → Borrower.issue_loan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Borrower changes Loan PENDING → ACTIVE, then raises LoanIssued.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LoanIssuedHandler loads the Projector and calls mark_borrowed().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Projector checks BR2 before accepting AVAILABLE → BORROWED.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The flow is synchronous and in-process; the aggregates remain decoupled.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T1–T8 Test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T1 BR1 — accepts 7-day boundary; rejects 8 days.  T2 BR2 — rejects repeated borrow transition.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T3 BR3 — rejects third open loan.  T4 BR4 — rejects student + premium.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T5 BR5 — verifies LoanIssued payload.  T6 BR6 — rejects missing borrower lookup.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T7 — issuing handles the event and stores Projector as BORROWED.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T8 — Projector rejects follow-up; state/version remain unchanged.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Expected result: all eight pass; rejection and boundary requirements are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TDD Example — BR1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RED — T1 expected the 7-day boundary to be valid and 8 days to be rejected.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Implementation — BorrowingPeriod validates: 1 &lt;= duration_in_days() &lt;= 7.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GREEN — T1 passes with the invariant located in the Value Object.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Actual red/green terminal output is kept in evidence/tdd_cycle.txt.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Main Use Case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1 · Interface/composition root builds IssueLoan with both in-memory repositories.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2 · IssueLoanCommand identifies the borrower and pending loan.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3 · Repositories load Borrower and Projector (BR6).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4 · Eligibility service evaluates cross-concept policy (BR4).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5 · Borrower activates Loan and records LoanIssued (BR5).</a:t>
            </a:r>
          </a:p>
          <a:p>
            <a:pPr>
              <a:spcAft>
                <a:spcPts val="1000"/>
              </a:spcAft>
              <a:defRPr sz="1600">
                <a:solidFill>
                  <a:srgbClr val="F7FAFC"/>
                </a:solidFill>
                <a:latin typeface="Aptos"/>
              </a:defRPr>
            </a:pPr>
            <a:r>
              <a:t>6 · Handler asks Projector to become BORROWED (BR2), repositories save, LoanResult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Design Choice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Rejected design — IssueLoan directly called projector.mark_borrowed() after changing Borrower.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Problem — the event was only recorded; it did not drive the follow-up action required by BR5.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Change — LoanIssuedHandler now consumes LoanIssued and coordinates Aggregate B.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Benefit — explicit, testable event flow without direct aggregate-to-aggregate mutation.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Trade-off — synchronous in-memory dispatch is intentionally small for coursework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AFC"/>
                </a:solidFill>
                <a:latin typeface="Aptos Display"/>
              </a:defRPr>
            </a:pPr>
            <a:r>
              <a:t>Traceability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BR1 → BorrowingPeriod → T1 → pass.  BR2 → Projector → T2/T8 → pass.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BR3 → Borrower → T3 → pass.  BR4 → Eligibility Service → T4 → pass.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BR5 → LoanIssued + handler → T5/T7 → pass.  BR6 → repositories + RequestLoan → T6 → pass.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Two aggregates, inward dependencies, injected repositories, DTOs, and in-process event handling match the implementation.</a:t>
            </a:r>
          </a:p>
          <a:p>
            <a:pPr>
              <a:spcAft>
                <a:spcPts val="1000"/>
              </a:spcAft>
              <a:defRPr sz="1800">
                <a:solidFill>
                  <a:srgbClr val="F7FAFC"/>
                </a:solidFill>
                <a:latin typeface="Aptos"/>
              </a:defRPr>
            </a:pPr>
            <a:r>
              <a:t>Conclusion — small scope, rules in the domain, application coordination only, automated evidence retained.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1"/>
                </a:solidFill>
              </a:defRPr>
            </a:pPr>
            <a:r>
              <a:t>PROJECTOR BORROWING  /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